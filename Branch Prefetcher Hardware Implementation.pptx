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5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embeddedFontLst>
    <p:embeddedFont>
      <p:font typeface="Artifakt Element Black" panose="020B0A03050000020004" pitchFamily="34" charset="0"/>
      <p:bold r:id="rId14"/>
      <p:boldItalic r:id="rId15"/>
    </p:embeddedFont>
    <p:embeddedFont>
      <p:font typeface="Artifakt Element Heavy" panose="020B0B03050000020004" pitchFamily="34" charset="0"/>
      <p:bold r:id="rId16"/>
      <p:boldItalic r:id="rId17"/>
    </p:embeddedFont>
    <p:embeddedFont>
      <p:font typeface="Inter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5F926E-2B67-06F4-46CB-9BE422F12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16"/>
            <a:ext cx="12192000" cy="6833368"/>
          </a:xfrm>
          <a:prstGeom prst="rect">
            <a:avLst/>
          </a:prstGeom>
        </p:spPr>
      </p:pic>
      <p:sp>
        <p:nvSpPr>
          <p:cNvPr id="85" name="Google Shape;85;p13"/>
          <p:cNvSpPr txBox="1"/>
          <p:nvPr/>
        </p:nvSpPr>
        <p:spPr>
          <a:xfrm>
            <a:off x="505298" y="2362503"/>
            <a:ext cx="11181300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  <a:t>BRANCH-BASED INSTRUCTION PREFETCHER</a:t>
            </a:r>
            <a:endParaRPr dirty="0">
              <a:solidFill>
                <a:schemeClr val="tx2">
                  <a:lumMod val="25000"/>
                </a:schemeClr>
              </a:solidFill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062111" y="4649384"/>
            <a:ext cx="80676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64748B"/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Inter"/>
                <a:sym typeface="Inter"/>
              </a:rPr>
              <a:t>Advanced Instruction Stream Optimization for Modern Pipelines</a:t>
            </a:r>
            <a:endParaRPr b="1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2" name="AutoShape 4" descr="Graph Paper Texture Images – Browse 119,565 Stock Photos, Vectors, and  Video | Adobe Stock">
            <a:extLst>
              <a:ext uri="{FF2B5EF4-FFF2-40B4-BE49-F238E27FC236}">
                <a16:creationId xmlns:a16="http://schemas.microsoft.com/office/drawing/2014/main" id="{353E093F-5285-B3C4-39A4-51A33C6222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6" descr="Graph Paper Texture Images – Browse 119,565 Stock Photos, Vectors, and  Video | Adobe Stock">
            <a:extLst>
              <a:ext uri="{FF2B5EF4-FFF2-40B4-BE49-F238E27FC236}">
                <a16:creationId xmlns:a16="http://schemas.microsoft.com/office/drawing/2014/main" id="{20F69616-9ADE-649C-EDA7-F1AF523C8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Google Shape;85;p13">
            <a:extLst>
              <a:ext uri="{FF2B5EF4-FFF2-40B4-BE49-F238E27FC236}">
                <a16:creationId xmlns:a16="http://schemas.microsoft.com/office/drawing/2014/main" id="{9A3BFF6F-6E09-F411-DB9C-9E44AF26DE62}"/>
              </a:ext>
            </a:extLst>
          </p:cNvPr>
          <p:cNvSpPr txBox="1"/>
          <p:nvPr/>
        </p:nvSpPr>
        <p:spPr>
          <a:xfrm>
            <a:off x="412585" y="587596"/>
            <a:ext cx="11181300" cy="115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bg2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  <a:t>COURSE PROJECT</a:t>
            </a:r>
            <a:br>
              <a:rPr lang="en-US" sz="2200" b="0" i="0" u="none" strike="noStrike" cap="none" dirty="0">
                <a:solidFill>
                  <a:schemeClr val="bg2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</a:br>
            <a:r>
              <a:rPr lang="en-US" sz="2200" b="0" i="0" u="none" strike="noStrike" cap="none" dirty="0">
                <a:solidFill>
                  <a:schemeClr val="bg2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  <a:t>COMPUTER ORGANIZATION AND ARCHITECTURE</a:t>
            </a:r>
          </a:p>
          <a:p>
            <a:pPr lvl="0" algn="ctr">
              <a:lnSpc>
                <a:spcPct val="110000"/>
              </a:lnSpc>
            </a:pP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sym typeface="Inter ExtraBold"/>
              </a:rPr>
              <a:t>(</a:t>
            </a:r>
            <a:r>
              <a:rPr lang="en-IN" sz="2400" dirty="0">
                <a:solidFill>
                  <a:schemeClr val="bg2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sym typeface="Inter ExtraBold"/>
              </a:rPr>
              <a:t>CS2007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sym typeface="Inter ExtraBold"/>
              </a:rPr>
              <a:t>)</a:t>
            </a:r>
            <a:endParaRPr sz="2200" dirty="0">
              <a:solidFill>
                <a:schemeClr val="bg2">
                  <a:lumMod val="50000"/>
                </a:schemeClr>
              </a:solidFill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5D1DDDF-8D1D-B303-677B-9AA3544FF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6"/>
            <a:ext cx="12192000" cy="6833368"/>
          </a:xfrm>
          <a:prstGeom prst="rect">
            <a:avLst/>
          </a:prstGeom>
        </p:spPr>
      </p:pic>
      <p:sp>
        <p:nvSpPr>
          <p:cNvPr id="4" name="Google Shape;91;p14">
            <a:extLst>
              <a:ext uri="{FF2B5EF4-FFF2-40B4-BE49-F238E27FC236}">
                <a16:creationId xmlns:a16="http://schemas.microsoft.com/office/drawing/2014/main" id="{78481B73-655F-7D3B-0455-3C3BA078F5E5}"/>
              </a:ext>
            </a:extLst>
          </p:cNvPr>
          <p:cNvSpPr txBox="1"/>
          <p:nvPr/>
        </p:nvSpPr>
        <p:spPr>
          <a:xfrm>
            <a:off x="771525" y="2288198"/>
            <a:ext cx="10395916" cy="4038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F172A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I V S Akhil – CS24B2005</a:t>
            </a:r>
          </a:p>
          <a:p>
            <a:pPr marR="0" lvl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F172A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sym typeface="Inter"/>
              </a:rPr>
              <a:t>B Rakesh – CS24B2039</a:t>
            </a:r>
          </a:p>
          <a:p>
            <a:pPr marR="0" lvl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F172A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sym typeface="Inter"/>
              </a:rPr>
              <a:t>K Siva Phanendra – CS24B2048</a:t>
            </a:r>
          </a:p>
          <a:p>
            <a:pPr marR="0" lvl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F172A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sym typeface="Inter"/>
              </a:rPr>
              <a:t>L Guna – CS24B2043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sz="2000" dirty="0"/>
          </a:p>
        </p:txBody>
      </p:sp>
      <p:sp>
        <p:nvSpPr>
          <p:cNvPr id="7" name="Google Shape;94;p14">
            <a:extLst>
              <a:ext uri="{FF2B5EF4-FFF2-40B4-BE49-F238E27FC236}">
                <a16:creationId xmlns:a16="http://schemas.microsoft.com/office/drawing/2014/main" id="{A8F34E5E-BA7C-1B56-6399-8CAF079623DF}"/>
              </a:ext>
            </a:extLst>
          </p:cNvPr>
          <p:cNvSpPr txBox="1"/>
          <p:nvPr/>
        </p:nvSpPr>
        <p:spPr>
          <a:xfrm>
            <a:off x="505301" y="1009461"/>
            <a:ext cx="1118139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  <a:t>Team Details</a:t>
            </a:r>
            <a:endParaRPr sz="4400" dirty="0">
              <a:solidFill>
                <a:schemeClr val="tx2">
                  <a:lumMod val="25000"/>
                </a:schemeClr>
              </a:solidFill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8" name="Google Shape;95;p14">
            <a:extLst>
              <a:ext uri="{FF2B5EF4-FFF2-40B4-BE49-F238E27FC236}">
                <a16:creationId xmlns:a16="http://schemas.microsoft.com/office/drawing/2014/main" id="{DABC6A5F-A03D-30BD-C34E-A531A791DB76}"/>
              </a:ext>
            </a:extLst>
          </p:cNvPr>
          <p:cNvSpPr/>
          <p:nvPr/>
        </p:nvSpPr>
        <p:spPr>
          <a:xfrm>
            <a:off x="841099" y="1908453"/>
            <a:ext cx="10648950" cy="38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1949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FB703A-6D26-685C-BC64-98B8E4A80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6"/>
            <a:ext cx="12192000" cy="6833368"/>
          </a:xfrm>
          <a:prstGeom prst="rect">
            <a:avLst/>
          </a:prstGeom>
        </p:spPr>
      </p:pic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4197A63B-D555-C3D4-6A2B-376EC640A313}"/>
              </a:ext>
            </a:extLst>
          </p:cNvPr>
          <p:cNvSpPr txBox="1"/>
          <p:nvPr/>
        </p:nvSpPr>
        <p:spPr>
          <a:xfrm>
            <a:off x="2890693" y="704772"/>
            <a:ext cx="573647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  <a:t>Problem Statement</a:t>
            </a:r>
            <a:endParaRPr sz="4000" dirty="0">
              <a:solidFill>
                <a:schemeClr val="tx2">
                  <a:lumMod val="25000"/>
                </a:schemeClr>
              </a:solidFill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7" name="Google Shape;91;p14">
            <a:extLst>
              <a:ext uri="{FF2B5EF4-FFF2-40B4-BE49-F238E27FC236}">
                <a16:creationId xmlns:a16="http://schemas.microsoft.com/office/drawing/2014/main" id="{7F36B751-5FDB-0CC6-903F-22FF6760C5A6}"/>
              </a:ext>
            </a:extLst>
          </p:cNvPr>
          <p:cNvSpPr txBox="1"/>
          <p:nvPr/>
        </p:nvSpPr>
        <p:spPr>
          <a:xfrm>
            <a:off x="1298299" y="2233533"/>
            <a:ext cx="10395916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2000" b="1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The objective is to design and implement a Verilog hardware module that autonomously detects ARM branch instructions in the instruction stream, calculates their target ad-dresses, and prefetches those target instructions from memory into a low-latency buffer , thereby hiding the memory access latency from the processor.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321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8F8878-4660-9056-AD7B-9B1E720BB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30"/>
            <a:ext cx="12192000" cy="6831340"/>
          </a:xfrm>
          <a:prstGeom prst="rect">
            <a:avLst/>
          </a:prstGeom>
        </p:spPr>
      </p:pic>
      <p:sp>
        <p:nvSpPr>
          <p:cNvPr id="91" name="Google Shape;91;p14"/>
          <p:cNvSpPr txBox="1"/>
          <p:nvPr/>
        </p:nvSpPr>
        <p:spPr>
          <a:xfrm>
            <a:off x="771525" y="2288198"/>
            <a:ext cx="10395916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The Memory Wall:</a:t>
            </a:r>
            <a:r>
              <a:rPr lang="en-US" sz="2400" b="1" i="0" u="none" strike="noStrike" cap="none" dirty="0">
                <a:solidFill>
                  <a:srgbClr val="475569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 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CPUs execute instructions orders of magnitude faster than main memory can provide them, creating a fundamental latency bottleneck.</a:t>
            </a:r>
            <a:endParaRPr sz="2000" dirty="0"/>
          </a:p>
        </p:txBody>
      </p:sp>
      <p:sp>
        <p:nvSpPr>
          <p:cNvPr id="92" name="Google Shape;92;p14"/>
          <p:cNvSpPr txBox="1"/>
          <p:nvPr/>
        </p:nvSpPr>
        <p:spPr>
          <a:xfrm>
            <a:off x="771525" y="3464152"/>
            <a:ext cx="10395916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The Branch Penalty: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 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ARM control-flow instructions stall the pipeline until the target address is decoded and fetched, wasting precious clock cycles.</a:t>
            </a:r>
            <a:endParaRPr sz="2000" dirty="0"/>
          </a:p>
        </p:txBody>
      </p:sp>
      <p:sp>
        <p:nvSpPr>
          <p:cNvPr id="93" name="Google Shape;93;p14"/>
          <p:cNvSpPr txBox="1"/>
          <p:nvPr/>
        </p:nvSpPr>
        <p:spPr>
          <a:xfrm>
            <a:off x="771525" y="4640106"/>
            <a:ext cx="10395915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Pipeline Stalls: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 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During target calculation, the pipeline starves. Once calculated, a second stall occurs while waiting for the memory controller to respond.</a:t>
            </a:r>
            <a:endParaRPr sz="2000"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1059759" y="1024370"/>
            <a:ext cx="111813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  <a:t>The Problem</a:t>
            </a:r>
            <a:endParaRPr dirty="0">
              <a:solidFill>
                <a:schemeClr val="tx2">
                  <a:lumMod val="25000"/>
                </a:schemeClr>
              </a:solidFill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771525" y="1617612"/>
            <a:ext cx="10648950" cy="38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69E6CF-3A01-18F3-9412-74EEA2299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30"/>
            <a:ext cx="12192000" cy="6831340"/>
          </a:xfrm>
          <a:prstGeom prst="rect">
            <a:avLst/>
          </a:prstGeom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147292"/>
            <a:ext cx="3359199" cy="4018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474" y="2147292"/>
            <a:ext cx="3359199" cy="4018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424" y="2147292"/>
            <a:ext cx="3359199" cy="401895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149800" y="2811800"/>
            <a:ext cx="27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"/>
                <a:sym typeface="Inter"/>
              </a:rPr>
              <a:t>Snoop</a:t>
            </a:r>
            <a:endParaRPr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1149800" y="3507540"/>
            <a:ext cx="25782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Passively monitors instruction fetching on the primary bus without interrupting the CPU core.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4794749" y="2811800"/>
            <a:ext cx="27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"/>
                <a:sym typeface="Inter"/>
              </a:rPr>
              <a:t>Predict</a:t>
            </a:r>
            <a:endParaRPr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4794749" y="3507530"/>
            <a:ext cx="25782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Immediately identifies branch opcodes and calculates jump destinations in raw hardware logic.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8439699" y="2811800"/>
            <a:ext cx="27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"/>
                <a:sym typeface="Inter"/>
              </a:rPr>
              <a:t>Fetch</a:t>
            </a:r>
            <a:endParaRPr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8439699" y="3507530"/>
            <a:ext cx="257820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Proactively requests the target instruction from memory via AXI before the CPU even requests it.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771525" y="960387"/>
            <a:ext cx="111813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  <a:t>    Approach &amp; Architecture</a:t>
            </a:r>
            <a:endParaRPr dirty="0">
              <a:solidFill>
                <a:schemeClr val="tx2">
                  <a:lumMod val="25000"/>
                </a:schemeClr>
              </a:solidFill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771525" y="1617612"/>
            <a:ext cx="10648950" cy="38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EAC774-2549-882E-3C79-DBA268695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30"/>
            <a:ext cx="12192000" cy="6831340"/>
          </a:xfrm>
          <a:prstGeom prst="rect">
            <a:avLst/>
          </a:prstGeom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237779"/>
            <a:ext cx="5133975" cy="300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37779"/>
            <a:ext cx="5133975" cy="3007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771525" y="5531048"/>
            <a:ext cx="106489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The result is a valid target address available in the same clock cycle the branch is detected.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1114425" y="2828329"/>
            <a:ext cx="473059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"/>
                <a:sym typeface="Inter"/>
              </a:rPr>
              <a:t>Combinational Detection</a:t>
            </a:r>
            <a:endParaRPr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1114425" y="3409354"/>
            <a:ext cx="45053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Pure logic block monitoring the instruction bus. It validates bits [27:25] for the ARM branch opcode (101) while filtering out condition code 1111.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629400" y="2828329"/>
            <a:ext cx="473059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"/>
                <a:sym typeface="Inter"/>
              </a:rPr>
              <a:t>Instant Offset Math</a:t>
            </a:r>
            <a:endParaRPr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629400" y="3409354"/>
            <a:ext cx="45053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Calculates the relative target PC in one cycle: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Target = (PC + 8) + (SignExt(Offset) &lt;&lt; 2)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71525" y="960387"/>
            <a:ext cx="111813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  <a:t>   Implementation: Pre-decoder</a:t>
            </a:r>
            <a:endParaRPr dirty="0">
              <a:solidFill>
                <a:schemeClr val="tx2">
                  <a:lumMod val="25000"/>
                </a:schemeClr>
              </a:solidFill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771525" y="1617612"/>
            <a:ext cx="10648950" cy="38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1A8FF9-E101-CC8D-2E87-48D2B4E5D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30"/>
            <a:ext cx="12192000" cy="6831340"/>
          </a:xfrm>
          <a:prstGeom prst="rect">
            <a:avLst/>
          </a:prstGeom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653010"/>
            <a:ext cx="5133975" cy="300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653010"/>
            <a:ext cx="5133975" cy="300751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1114425" y="3243560"/>
            <a:ext cx="473059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"/>
                <a:sym typeface="Inter"/>
              </a:rPr>
              <a:t>AXI Master FSM</a:t>
            </a:r>
            <a:endParaRPr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1114425" y="3824585"/>
            <a:ext cx="45053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high-performance 3-state machine (IDLE → REQ → WAIT) that manages arvalid handshakes and data retrieval from the memory bus.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629400" y="3243560"/>
            <a:ext cx="473059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"/>
                <a:sym typeface="Inter"/>
              </a:rPr>
              <a:t>Sidecar FIFO</a:t>
            </a:r>
            <a:endParaRPr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6629400" y="3824585"/>
            <a:ext cx="45053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 8-deep circular queue storing 64-bit payloads (PC + Instruction). Uses </a:t>
            </a: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N+1 Pointers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resolve full vs. empty ambiguity.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71525" y="960387"/>
            <a:ext cx="111813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  <a:t>   Implementation: Prefetcher &amp; FIFO</a:t>
            </a:r>
            <a:endParaRPr dirty="0">
              <a:solidFill>
                <a:schemeClr val="tx2">
                  <a:lumMod val="25000"/>
                </a:schemeClr>
              </a:solidFill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771525" y="1617612"/>
            <a:ext cx="10648950" cy="38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8933B3-77E5-4731-643F-764E467AE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30"/>
            <a:ext cx="12192000" cy="6831340"/>
          </a:xfrm>
          <a:prstGeom prst="rect">
            <a:avLst/>
          </a:prstGeom>
        </p:spPr>
      </p:pic>
      <p:sp>
        <p:nvSpPr>
          <p:cNvPr id="144" name="Google Shape;144;p18"/>
          <p:cNvSpPr txBox="1"/>
          <p:nvPr/>
        </p:nvSpPr>
        <p:spPr>
          <a:xfrm>
            <a:off x="771525" y="2252209"/>
            <a:ext cx="10316403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Bus Multiplexing: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 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Implements a strict 9-state arbiter to manage contention between the CPU and Prefetcher, prioritizing the CPU at all times.</a:t>
            </a:r>
            <a:endParaRPr sz="2000" dirty="0"/>
          </a:p>
        </p:txBody>
      </p:sp>
      <p:sp>
        <p:nvSpPr>
          <p:cNvPr id="145" name="Google Shape;145;p18"/>
          <p:cNvSpPr txBox="1"/>
          <p:nvPr/>
        </p:nvSpPr>
        <p:spPr>
          <a:xfrm>
            <a:off x="736737" y="3518452"/>
            <a:ext cx="10475429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The Hit Path: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 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Bypasses main memory entirely if the requested address is found in the Sidecar FIFO, serving data instantly.</a:t>
            </a:r>
            <a:endParaRPr sz="2000" dirty="0"/>
          </a:p>
        </p:txBody>
      </p:sp>
      <p:sp>
        <p:nvSpPr>
          <p:cNvPr id="146" name="Google Shape;146;p18"/>
          <p:cNvSpPr txBox="1"/>
          <p:nvPr/>
        </p:nvSpPr>
        <p:spPr>
          <a:xfrm>
            <a:off x="771525" y="4784695"/>
            <a:ext cx="10405855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The Miss Path: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 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Seamlessly routes the CPU's request directly to the AXI memory bus when prefetch data is not available.</a:t>
            </a:r>
            <a:endParaRPr sz="2000" dirty="0"/>
          </a:p>
        </p:txBody>
      </p:sp>
      <p:sp>
        <p:nvSpPr>
          <p:cNvPr id="147" name="Google Shape;147;p18"/>
          <p:cNvSpPr txBox="1"/>
          <p:nvPr/>
        </p:nvSpPr>
        <p:spPr>
          <a:xfrm>
            <a:off x="771525" y="960387"/>
            <a:ext cx="111813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  <a:t>   Implementation: Memory Arbiter</a:t>
            </a:r>
            <a:endParaRPr dirty="0">
              <a:solidFill>
                <a:schemeClr val="tx2">
                  <a:lumMod val="25000"/>
                </a:schemeClr>
              </a:solidFill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771525" y="1617612"/>
            <a:ext cx="106489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12571F-A13E-66D6-A18E-8B8CC3F9E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30"/>
            <a:ext cx="12192000" cy="6831340"/>
          </a:xfrm>
          <a:prstGeom prst="rect">
            <a:avLst/>
          </a:prstGeom>
        </p:spPr>
      </p:pic>
      <p:pic>
        <p:nvPicPr>
          <p:cNvPr id="154" name="Google Shape;15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653010"/>
            <a:ext cx="5133975" cy="300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653010"/>
            <a:ext cx="5133975" cy="300751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1114425" y="3243560"/>
            <a:ext cx="473059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"/>
                <a:sym typeface="Inter"/>
              </a:rPr>
              <a:t>AXI Synchronization</a:t>
            </a:r>
            <a:endParaRPr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1114425" y="3824585"/>
            <a:ext cx="45053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Ensuring READY/VALID alignment across three domains (CPU, Arbiter, Memory) was critical to avoid permanent bus deadlocks.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6629400" y="3243560"/>
            <a:ext cx="473059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"/>
                <a:sym typeface="Inter"/>
              </a:rPr>
              <a:t>Handling Mispredictions</a:t>
            </a:r>
            <a:endParaRPr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6629400" y="3824585"/>
            <a:ext cx="45053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If a branch isn't taken, the FIFO holds invalid data. We implemented a </a:t>
            </a: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1-cycle asynchronous flush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wipe pointers instantly.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771525" y="960387"/>
            <a:ext cx="111813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  <a:t>  Challenges We Faced</a:t>
            </a:r>
            <a:endParaRPr dirty="0">
              <a:solidFill>
                <a:schemeClr val="tx2">
                  <a:lumMod val="25000"/>
                </a:schemeClr>
              </a:solidFill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771525" y="1617612"/>
            <a:ext cx="106489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270E53-6D8E-B471-E84E-0B7A9A8C4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30"/>
            <a:ext cx="12192000" cy="6831340"/>
          </a:xfrm>
          <a:prstGeom prst="rect">
            <a:avLst/>
          </a:prstGeom>
        </p:spPr>
      </p:pic>
      <p:sp>
        <p:nvSpPr>
          <p:cNvPr id="167" name="Google Shape;167;p20"/>
          <p:cNvSpPr txBox="1"/>
          <p:nvPr/>
        </p:nvSpPr>
        <p:spPr>
          <a:xfrm>
            <a:off x="771525" y="2244863"/>
            <a:ext cx="10256768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Zero-Latency Fetching: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 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Testbench analysis confirmed that predicted instructions are served directly from the FIFO with zero memory wait cycles.</a:t>
            </a:r>
            <a:endParaRPr sz="2000" dirty="0"/>
          </a:p>
        </p:txBody>
      </p:sp>
      <p:sp>
        <p:nvSpPr>
          <p:cNvPr id="168" name="Google Shape;168;p20"/>
          <p:cNvSpPr txBox="1"/>
          <p:nvPr/>
        </p:nvSpPr>
        <p:spPr>
          <a:xfrm>
            <a:off x="771523" y="3429000"/>
            <a:ext cx="10316403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Verified Waveforms: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 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Waveform logs prove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mem_arvalid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is suppressed during hits, successfully reducing power and bus congestion.</a:t>
            </a:r>
            <a:endParaRPr sz="2000" dirty="0"/>
          </a:p>
        </p:txBody>
      </p:sp>
      <p:sp>
        <p:nvSpPr>
          <p:cNvPr id="169" name="Google Shape;169;p20"/>
          <p:cNvSpPr txBox="1"/>
          <p:nvPr/>
        </p:nvSpPr>
        <p:spPr>
          <a:xfrm>
            <a:off x="771524" y="4649449"/>
            <a:ext cx="10316402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Fault Tolerance: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Inter"/>
                <a:sym typeface="Inter"/>
              </a:rPr>
              <a:t> 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Simulation of branch mispredictions resulted in successful 1-cycle recoveries with 100% data integrity maintained.</a:t>
            </a:r>
            <a:endParaRPr sz="2000" dirty="0"/>
          </a:p>
        </p:txBody>
      </p:sp>
      <p:sp>
        <p:nvSpPr>
          <p:cNvPr id="170" name="Google Shape;170;p20"/>
          <p:cNvSpPr txBox="1"/>
          <p:nvPr/>
        </p:nvSpPr>
        <p:spPr>
          <a:xfrm>
            <a:off x="771525" y="960387"/>
            <a:ext cx="111813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tx2">
                    <a:lumMod val="25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  <a:t>  Final Results &amp; Verification</a:t>
            </a:r>
            <a:endParaRPr dirty="0">
              <a:solidFill>
                <a:schemeClr val="tx2">
                  <a:lumMod val="25000"/>
                </a:schemeClr>
              </a:solidFill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771525" y="1617612"/>
            <a:ext cx="106489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28B35E1-9456-64C4-5F75-9C93F2DFC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6"/>
            <a:ext cx="12192000" cy="68333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C5051A-6648-0186-8D28-EB6E1006D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988" y="2492237"/>
            <a:ext cx="10123005" cy="1873526"/>
          </a:xfrm>
        </p:spPr>
        <p:txBody>
          <a:bodyPr>
            <a:noAutofit/>
          </a:bodyPr>
          <a:lstStyle/>
          <a:p>
            <a:r>
              <a:rPr lang="en-US" sz="9600" dirty="0">
                <a:solidFill>
                  <a:schemeClr val="tx2">
                    <a:lumMod val="25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  <a:cs typeface="Inter ExtraBold"/>
                <a:sym typeface="Inter ExtraBold"/>
              </a:rPr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2784877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556</Words>
  <Application>Microsoft Office PowerPoint</Application>
  <PresentationFormat>Widescreen</PresentationFormat>
  <Paragraphs>47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Inter</vt:lpstr>
      <vt:lpstr>Artifakt Element Heavy</vt:lpstr>
      <vt:lpstr>Arial</vt:lpstr>
      <vt:lpstr>Artifakt Element Black</vt:lpstr>
      <vt:lpstr>MS PGothic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Akhil IVS</cp:lastModifiedBy>
  <cp:revision>3</cp:revision>
  <dcterms:modified xsi:type="dcterms:W3CDTF">2026-04-23T17:52:12Z</dcterms:modified>
</cp:coreProperties>
</file>